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embeddedFontLst>
    <p:embeddedFont>
      <p:font typeface="Arial Black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hqDv0dSHni0jW801o6XKZ99srU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782EF8-B6B9-4E11-87C7-AA502FD69308}">
  <a:tblStyle styleId="{7C782EF8-B6B9-4E11-87C7-AA502FD6930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9.png"/><Relationship Id="rId5" Type="http://schemas.openxmlformats.org/officeDocument/2006/relationships/image" Target="../media/image30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2.png"/><Relationship Id="rId5" Type="http://schemas.openxmlformats.org/officeDocument/2006/relationships/image" Target="../media/image27.png"/><Relationship Id="rId6" Type="http://schemas.openxmlformats.org/officeDocument/2006/relationships/image" Target="../media/image21.png"/><Relationship Id="rId7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858000" y="457200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452360" y="457200"/>
            <a:ext cx="457200" cy="45720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8046720" y="457200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6858000" y="1051560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452360" y="1051560"/>
            <a:ext cx="457200" cy="45720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8046720" y="1051560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6858000" y="1645920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452360" y="1645920"/>
            <a:ext cx="457200" cy="45720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8046720" y="1645920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858000" y="2240280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7452360" y="2240280"/>
            <a:ext cx="457200" cy="45720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046720" y="2240280"/>
            <a:ext cx="457200" cy="4572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"/>
          <p:cNvSpPr/>
          <p:nvPr/>
        </p:nvSpPr>
        <p:spPr>
          <a:xfrm>
            <a:off x="548640" y="731520"/>
            <a:ext cx="58521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 Black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ParkVision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48640" y="1874520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Parking Lot Occupancy Detection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48640" y="2468880"/>
            <a:ext cx="4114800" cy="457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548640" y="2651760"/>
            <a:ext cx="56692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Yusuf Shahzad</a:t>
            </a:r>
            <a:br>
              <a:rPr b="0" i="0" lang="en-US" sz="15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Course: </a:t>
            </a:r>
            <a:r>
              <a:rPr b="0" i="0" lang="en-US" sz="15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ITAI 1378 – Computer Vision &amp; AI</a:t>
            </a:r>
            <a:br>
              <a:rPr b="0" i="0" lang="en-US" sz="15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Tier: </a:t>
            </a:r>
            <a:r>
              <a:rPr b="0" i="0" lang="en-US" sz="15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Tier 2 — Object Detection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0040" y="914400"/>
            <a:ext cx="265176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320040" y="914400"/>
            <a:ext cx="2651760" cy="41148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1325880" y="1115568"/>
            <a:ext cx="640080" cy="640080"/>
          </a:xfrm>
          <a:prstGeom prst="ellipse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" name="Google Shape;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608" y="123444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2"/>
          <p:cNvSpPr/>
          <p:nvPr/>
        </p:nvSpPr>
        <p:spPr>
          <a:xfrm>
            <a:off x="320040" y="192024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1B4F72"/>
                </a:solidFill>
                <a:latin typeface="Arial Black"/>
                <a:ea typeface="Arial Black"/>
                <a:cs typeface="Arial Black"/>
                <a:sym typeface="Arial Black"/>
              </a:rPr>
              <a:t>30%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20040" y="260604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of urban traffic 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circling for parking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00400" y="914400"/>
            <a:ext cx="265176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200400" y="914400"/>
            <a:ext cx="2651760" cy="4114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4206240" y="1115568"/>
            <a:ext cx="640080" cy="64008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0" name="Google Shape;5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15968" y="123444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/>
          <p:nvPr/>
        </p:nvSpPr>
        <p:spPr>
          <a:xfrm>
            <a:off x="3200400" y="192024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D9488"/>
                </a:solidFill>
                <a:latin typeface="Arial Black"/>
                <a:ea typeface="Arial Black"/>
                <a:cs typeface="Arial Black"/>
                <a:sym typeface="Arial Black"/>
              </a:rPr>
              <a:t>7.8 min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200400" y="260604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average time wasted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searching per trip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080760" y="914400"/>
            <a:ext cx="2651760" cy="2834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080760" y="914400"/>
            <a:ext cx="2651760" cy="411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7086600" y="1115568"/>
            <a:ext cx="640080" cy="64008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96328" y="1234440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6080760" y="192024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59E0B"/>
                </a:solidFill>
                <a:latin typeface="Arial Black"/>
                <a:ea typeface="Arial Black"/>
                <a:cs typeface="Arial Black"/>
                <a:sym typeface="Arial Black"/>
              </a:rPr>
              <a:t>$97B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080760" y="2606040"/>
            <a:ext cx="2651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in fuel &amp; productivity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lost annually (USA)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20040" y="3886200"/>
            <a:ext cx="8503920" cy="9144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320040" y="3886200"/>
            <a:ext cx="109728" cy="9144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548640" y="3913632"/>
            <a:ext cx="8046720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Drivers and parking operators have no real-time visibility into which spots are available — causing wasted time, increased emissions, and frustrated drivers.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Our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65760" y="914400"/>
            <a:ext cx="8412480" cy="7772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57200" y="91440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real-time system that uses overhead camera feeds and YOLOv8 to detect and count occupied vs. available parking spaces.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65760" y="1920240"/>
            <a:ext cx="18288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65760" y="1920240"/>
            <a:ext cx="1828800" cy="5029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3" name="Google Shape;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1984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3"/>
          <p:cNvSpPr/>
          <p:nvPr/>
        </p:nvSpPr>
        <p:spPr>
          <a:xfrm>
            <a:off x="365760" y="2560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65760" y="28346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Overhead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Camera Feed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2212848" y="2852928"/>
            <a:ext cx="274320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2304288" y="27157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514600" y="1920240"/>
            <a:ext cx="18288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2514600" y="1920240"/>
            <a:ext cx="182880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" name="Google Shape;8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4680" y="1984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3"/>
          <p:cNvSpPr/>
          <p:nvPr/>
        </p:nvSpPr>
        <p:spPr>
          <a:xfrm>
            <a:off x="2514600" y="2560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2514600" y="28346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YOLOv8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Detection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361688" y="2852928"/>
            <a:ext cx="274320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453128" y="27157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663440" y="1920240"/>
            <a:ext cx="18288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663440" y="1920240"/>
            <a:ext cx="1828800" cy="50292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03520" y="1984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4663440" y="2560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663440" y="28346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Classification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6510528" y="2852928"/>
            <a:ext cx="274320" cy="54864"/>
          </a:xfrm>
          <a:prstGeom prst="rect">
            <a:avLst/>
          </a:prstGeom>
          <a:solidFill>
            <a:srgbClr val="64748B"/>
          </a:solidFill>
          <a:ln cap="flat" cmpd="sng" w="1270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6601968" y="27157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812280" y="1920240"/>
            <a:ext cx="182880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6812280" y="1920240"/>
            <a:ext cx="1828800" cy="50292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52360" y="198424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6812280" y="25603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812280" y="283464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365760" y="4206240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Who Benefits: Parking lot operators, shopping centers, airports, university campuses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Technical Approach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65760" y="960120"/>
            <a:ext cx="8412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365760" y="960120"/>
            <a:ext cx="640080" cy="11155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1289304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1143000" y="1033272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CV TECHNIQUE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143000" y="1261872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Object Detection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143000" y="1581912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Detects individual cars in overhead images and classifies each space as empty or occupied.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2258568"/>
            <a:ext cx="8412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365760" y="2258568"/>
            <a:ext cx="640080" cy="111556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" y="2587752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1143000" y="233172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1143000" y="2560320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YOLOv8n / YOLOv8s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1143000" y="2880360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Ultralytics YOLOv8 — fast, accurate, and pre-trained on COCO including 'car' class. Nano or small variant for real-time speed.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65760" y="3557016"/>
            <a:ext cx="8412480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365760" y="3557016"/>
            <a:ext cx="640080" cy="11155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768" y="3886200"/>
            <a:ext cx="475488" cy="47548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1143000" y="3630168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FRAMEWORK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1143000" y="3858768"/>
            <a:ext cx="7223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 Black"/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Arial Black"/>
                <a:ea typeface="Arial Black"/>
                <a:cs typeface="Arial Black"/>
                <a:sym typeface="Arial Black"/>
              </a:rPr>
              <a:t>PyTorch + Ultralytics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1143000" y="4178808"/>
            <a:ext cx="7223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Ultralytics provides a clean API around YOLOv8 for training, fine-tuning, and inference. Runs on Colab GPU.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Data Plan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65760" y="960120"/>
            <a:ext cx="4069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65760" y="960120"/>
            <a:ext cx="406908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2" name="Google Shape;1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10058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822960" y="97840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Primary 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02920" y="141732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PKLot Dataset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~12,000 images from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Brazilian parking lots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(sunny, cloudy, rainy)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4709160" y="960120"/>
            <a:ext cx="4069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709160" y="960120"/>
            <a:ext cx="4069080" cy="38404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7" name="Google Shape;13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2312" y="10058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/>
          <p:nvPr/>
        </p:nvSpPr>
        <p:spPr>
          <a:xfrm>
            <a:off x="5166360" y="97840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Backup Source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846320" y="141732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Roboflow Universe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'Parking Lot Detection'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public dataset ~5,000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annotated images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65760" y="2971800"/>
            <a:ext cx="4069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65760" y="2971800"/>
            <a:ext cx="406908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2" name="Google Shape;14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30175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22960" y="299008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Labels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02920" y="342900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Two classes: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occupied (car present)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empty (space free)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Bounding box annotations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709160" y="2971800"/>
            <a:ext cx="4069080" cy="1828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709160" y="2971800"/>
            <a:ext cx="4069080" cy="38404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7" name="Google Shape;14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2312" y="30175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/>
          <p:nvPr/>
        </p:nvSpPr>
        <p:spPr>
          <a:xfrm>
            <a:off x="5166360" y="2990088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846320" y="3429000"/>
            <a:ext cx="3749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Resize to 640×640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Normalize pixels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Augment: flip, rotate,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 brightness jitter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Total: ~12,000 labeled images  |  Train/Val/Test: 70% / 15% / 15%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Diagram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20040" y="1097280"/>
            <a:ext cx="1463040" cy="2560320"/>
          </a:xfrm>
          <a:prstGeom prst="rect">
            <a:avLst/>
          </a:prstGeom>
          <a:solidFill>
            <a:srgbClr val="0D9488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320040" y="1097280"/>
            <a:ext cx="1463040" cy="32918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320040" y="109728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5087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6"/>
          <p:cNvSpPr/>
          <p:nvPr/>
        </p:nvSpPr>
        <p:spPr>
          <a:xfrm>
            <a:off x="320040" y="2148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Overhead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320040" y="28346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RTSP / static image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801368" y="21945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057400" y="1097280"/>
            <a:ext cx="1463040" cy="2560320"/>
          </a:xfrm>
          <a:prstGeom prst="rect">
            <a:avLst/>
          </a:prstGeom>
          <a:solidFill>
            <a:srgbClr val="1E3A5F"/>
          </a:solidFill>
          <a:ln cap="flat" cmpd="sng" w="254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2057400" y="1097280"/>
            <a:ext cx="1463040" cy="329184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2057400" y="109728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14600" y="15087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2057400" y="2148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057400" y="28346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Resize, normalize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640×640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538728" y="21945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3794760" y="1097280"/>
            <a:ext cx="1463040" cy="2560320"/>
          </a:xfrm>
          <a:prstGeom prst="rect">
            <a:avLst/>
          </a:prstGeom>
          <a:solidFill>
            <a:srgbClr val="1E3A5F"/>
          </a:solidFill>
          <a:ln cap="flat" cmpd="sng" w="254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3794760" y="1097280"/>
            <a:ext cx="1463040" cy="32918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3794760" y="109728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6" name="Google Shape;17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1960" y="15087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6"/>
          <p:cNvSpPr/>
          <p:nvPr/>
        </p:nvSpPr>
        <p:spPr>
          <a:xfrm>
            <a:off x="3794760" y="2148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3794760" y="28346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Detect cars 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each space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5276088" y="21945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5532120" y="1097280"/>
            <a:ext cx="1463040" cy="2560320"/>
          </a:xfrm>
          <a:prstGeom prst="rect">
            <a:avLst/>
          </a:prstGeom>
          <a:solidFill>
            <a:srgbClr val="1E3A5F"/>
          </a:solidFill>
          <a:ln cap="flat" cmpd="sng" w="254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5532120" y="1097280"/>
            <a:ext cx="1463040" cy="329184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5532120" y="109728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3" name="Google Shape;18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989320" y="15087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6"/>
          <p:cNvSpPr/>
          <p:nvPr/>
        </p:nvSpPr>
        <p:spPr>
          <a:xfrm>
            <a:off x="5532120" y="2148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Mapper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5532120" y="28346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Map detections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to lot grid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013448" y="2194560"/>
            <a:ext cx="274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7269480" y="1097280"/>
            <a:ext cx="1463040" cy="2560320"/>
          </a:xfrm>
          <a:prstGeom prst="rect">
            <a:avLst/>
          </a:prstGeom>
          <a:solidFill>
            <a:srgbClr val="F59E0B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7269480" y="1097280"/>
            <a:ext cx="14630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7269480" y="1097280"/>
            <a:ext cx="14630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0" name="Google Shape;190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26680" y="15087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/>
          <p:nvPr/>
        </p:nvSpPr>
        <p:spPr>
          <a:xfrm>
            <a:off x="7269480" y="2148840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7269480" y="2834640"/>
            <a:ext cx="1463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Green/red overlay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+ count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Success Metrics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365760" y="914400"/>
            <a:ext cx="2651760" cy="18288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7320" y="10058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7"/>
          <p:cNvSpPr/>
          <p:nvPr/>
        </p:nvSpPr>
        <p:spPr>
          <a:xfrm>
            <a:off x="365760" y="160020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≥ 90%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65760" y="22860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Detection Accuracy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3246120" y="914400"/>
            <a:ext cx="2651760" cy="182880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5" name="Google Shape;2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97680" y="10058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3246120" y="160020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≥ 85%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246120" y="22860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mAP@0.5 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6126480" y="914400"/>
            <a:ext cx="2651760" cy="18288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9" name="Google Shape;20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78040" y="10058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7"/>
          <p:cNvSpPr/>
          <p:nvPr/>
        </p:nvSpPr>
        <p:spPr>
          <a:xfrm>
            <a:off x="6126480" y="1600200"/>
            <a:ext cx="26517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 Black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&lt; 1s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6126480" y="2286000"/>
            <a:ext cx="26517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Per-Frame Latency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2" name="Google Shape;212;p7"/>
          <p:cNvGraphicFramePr/>
          <p:nvPr/>
        </p:nvGraphicFramePr>
        <p:xfrm>
          <a:off x="365760" y="2926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{7C782EF8-B6B9-4E11-87C7-AA502FD69308}</a:tableStyleId>
              </a:tblPr>
              <a:tblGrid>
                <a:gridCol w="2011675"/>
                <a:gridCol w="3200400"/>
                <a:gridCol w="1554475"/>
                <a:gridCol w="16459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Measures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Target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1B2A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Accuracy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% of spaces correctly classified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90%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🥇 Primary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mAP@0.5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 average precision at IoU 0.5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≥ 85%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🥇 Primary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Inference Speed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Time to process one frame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1 second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🥈 Secondary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 Negatives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Occupied spaces missed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&lt; 5%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🥈 Secondary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4DE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Week-by-Week Plan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320040" y="914400"/>
            <a:ext cx="8458200" cy="59436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22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8"/>
          <p:cNvSpPr/>
          <p:nvPr/>
        </p:nvSpPr>
        <p:spPr>
          <a:xfrm>
            <a:off x="320040" y="914400"/>
            <a:ext cx="54864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457200" y="1005840"/>
            <a:ext cx="749808" cy="4114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457200" y="1005840"/>
            <a:ext cx="749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Wk 10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1298448" y="100584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2029968" y="960120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Download PKLot dataset, set up GitHub repo, configure Colab environment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6858000" y="1005840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✅ Dataset 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320040" y="1591056"/>
            <a:ext cx="8458200" cy="594360"/>
          </a:xfrm>
          <a:prstGeom prst="rect">
            <a:avLst/>
          </a:prstGeom>
          <a:solidFill>
            <a:srgbClr val="1A2840"/>
          </a:solidFill>
          <a:ln cap="flat" cmpd="sng" w="12700">
            <a:solidFill>
              <a:srgbClr val="22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"/>
          <p:cNvSpPr/>
          <p:nvPr/>
        </p:nvSpPr>
        <p:spPr>
          <a:xfrm>
            <a:off x="320040" y="1591056"/>
            <a:ext cx="54864" cy="59436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457200" y="1682496"/>
            <a:ext cx="749808" cy="41148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457200" y="1682496"/>
            <a:ext cx="749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Wk 11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1298448" y="1682496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2029968" y="1636776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Train YOLOv8 baseline on PKLot. Run first evaluation. Tune hyperparameters.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858000" y="1682496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✅ Model running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320040" y="2267712"/>
            <a:ext cx="8458200" cy="59436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22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320040" y="2267712"/>
            <a:ext cx="54864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457200" y="2359152"/>
            <a:ext cx="749808" cy="4114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457200" y="2359152"/>
            <a:ext cx="749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Wk 12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1298448" y="2359152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2029968" y="2313432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Add data augmentation, fine-tune model, reach ≥90% accuracy target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6858000" y="2359152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✅ Target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320040" y="2944368"/>
            <a:ext cx="8458200" cy="594360"/>
          </a:xfrm>
          <a:prstGeom prst="rect">
            <a:avLst/>
          </a:prstGeom>
          <a:solidFill>
            <a:srgbClr val="1A2840"/>
          </a:solidFill>
          <a:ln cap="flat" cmpd="sng" w="12700">
            <a:solidFill>
              <a:srgbClr val="22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8"/>
          <p:cNvSpPr/>
          <p:nvPr/>
        </p:nvSpPr>
        <p:spPr>
          <a:xfrm>
            <a:off x="320040" y="2944368"/>
            <a:ext cx="54864" cy="59436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457200" y="3035808"/>
            <a:ext cx="749808" cy="411480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8"/>
          <p:cNvSpPr/>
          <p:nvPr/>
        </p:nvSpPr>
        <p:spPr>
          <a:xfrm>
            <a:off x="457200" y="3035808"/>
            <a:ext cx="749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Wk 13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1298448" y="3035808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2029968" y="2990088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Build visual overlay (green/red space mapping). Create demo video.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858000" y="303580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F7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4F72"/>
                </a:solidFill>
                <a:latin typeface="Calibri"/>
                <a:ea typeface="Calibri"/>
                <a:cs typeface="Calibri"/>
                <a:sym typeface="Calibri"/>
              </a:rPr>
              <a:t>✅ Demo ready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20040" y="3621024"/>
            <a:ext cx="8458200" cy="594360"/>
          </a:xfrm>
          <a:prstGeom prst="rect">
            <a:avLst/>
          </a:prstGeom>
          <a:solidFill>
            <a:srgbClr val="162032"/>
          </a:solidFill>
          <a:ln cap="flat" cmpd="sng" w="12700">
            <a:solidFill>
              <a:srgbClr val="22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320040" y="3621024"/>
            <a:ext cx="54864" cy="5943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8"/>
          <p:cNvSpPr/>
          <p:nvPr/>
        </p:nvSpPr>
        <p:spPr>
          <a:xfrm>
            <a:off x="457200" y="3712464"/>
            <a:ext cx="749808" cy="41148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57200" y="3712464"/>
            <a:ext cx="749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Wk 14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1298448" y="3712464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2029968" y="3666744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Write documentation, clean up code, finalize README and report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858000" y="3712464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✅ Fully documented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320040" y="4297680"/>
            <a:ext cx="8458200" cy="594360"/>
          </a:xfrm>
          <a:prstGeom prst="rect">
            <a:avLst/>
          </a:prstGeom>
          <a:solidFill>
            <a:srgbClr val="1A2840"/>
          </a:solidFill>
          <a:ln cap="flat" cmpd="sng" w="12700">
            <a:solidFill>
              <a:srgbClr val="2233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/>
          <p:nvPr/>
        </p:nvSpPr>
        <p:spPr>
          <a:xfrm>
            <a:off x="320040" y="4297680"/>
            <a:ext cx="54864" cy="5943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457200" y="4389120"/>
            <a:ext cx="749808" cy="4114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457200" y="4389120"/>
            <a:ext cx="74980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Wk 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1298448" y="4389120"/>
            <a:ext cx="685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2029968" y="4343400"/>
            <a:ext cx="47548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Final polish and rehearsal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6858000" y="4389120"/>
            <a:ext cx="1737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🎉</a:t>
            </a: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1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Present!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9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Challenges &amp; Backup Plans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320040" y="91440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411480" y="1042416"/>
            <a:ext cx="457200" cy="45720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2" name="Google Shape;2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056" y="107899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/>
          <p:nvPr/>
        </p:nvSpPr>
        <p:spPr>
          <a:xfrm>
            <a:off x="1005840" y="96012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Low accuracy on occluded cars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005840" y="128016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 B: Use data augmentation (partial occlusion). Try larger model (YOLOv8m).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7498080" y="1097280"/>
            <a:ext cx="914400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7498080" y="109728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320040" y="173736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411480" y="1865376"/>
            <a:ext cx="457200" cy="45720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9" name="Google Shape;27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8056" y="190195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9"/>
          <p:cNvSpPr/>
          <p:nvPr/>
        </p:nvSpPr>
        <p:spPr>
          <a:xfrm>
            <a:off x="1005840" y="178308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PKLot dataset doesn't match target lot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1005840" y="210312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 B: Supplement with Roboflow parking dataset or collect 100+ custom images.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7498080" y="1920240"/>
            <a:ext cx="914400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7498080" y="192024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320040" y="256032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411480" y="2688336"/>
            <a:ext cx="457200" cy="45720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6" name="Google Shape;28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8056" y="272491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9"/>
          <p:cNvSpPr/>
          <p:nvPr/>
        </p:nvSpPr>
        <p:spPr>
          <a:xfrm>
            <a:off x="1005840" y="260604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Model too slow for real-time on CPU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1005840" y="292608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 B: Switch to YOLOv8n (nano) or use static images instead of live feed.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7498080" y="2743200"/>
            <a:ext cx="914400" cy="34747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7498080" y="274320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20040" y="338328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411480" y="3511296"/>
            <a:ext cx="457200" cy="45720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3" name="Google Shape;293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8056" y="354787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9"/>
          <p:cNvSpPr/>
          <p:nvPr/>
        </p:nvSpPr>
        <p:spPr>
          <a:xfrm>
            <a:off x="1005840" y="342900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Overfitting / poor generalization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1005840" y="37490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 B: Add dropout, reduce model size, add more augmentation, use early stopping.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7498080" y="3566160"/>
            <a:ext cx="914400" cy="34747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7498080" y="356616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320040" y="4206240"/>
            <a:ext cx="8458200" cy="71323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4DE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411480" y="4334256"/>
            <a:ext cx="457200" cy="457200"/>
          </a:xfrm>
          <a:prstGeom prst="ellipse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48056" y="4370832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9"/>
          <p:cNvSpPr/>
          <p:nvPr/>
        </p:nvSpPr>
        <p:spPr>
          <a:xfrm>
            <a:off x="1005840" y="4251960"/>
            <a:ext cx="3840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Colab GPU quota runs out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1005840" y="45720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Plan B: Switch to Kaggle (30hr/week free GPU) or use HEIDI HPC cluster.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7498080" y="4389120"/>
            <a:ext cx="914400" cy="347472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7498080" y="4389120"/>
            <a:ext cx="914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 Risk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0" y="0"/>
            <a:ext cx="320040" cy="7772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502920" y="0"/>
            <a:ext cx="8229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Resources Needed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365760" y="914400"/>
            <a:ext cx="4069080" cy="1783080"/>
          </a:xfrm>
          <a:prstGeom prst="rect">
            <a:avLst/>
          </a:prstGeom>
          <a:solidFill>
            <a:srgbClr val="162032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365760" y="914400"/>
            <a:ext cx="406908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912" y="9692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"/>
          <p:cNvSpPr/>
          <p:nvPr/>
        </p:nvSpPr>
        <p:spPr>
          <a:xfrm>
            <a:off x="804672" y="93268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3429000" y="969264"/>
            <a:ext cx="914400" cy="2926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3429000" y="96926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502920" y="137160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Google Colab (free T4 GPU)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502920" y="175564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Kaggle Notebooks (30h/wk GPU)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502920" y="213969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HEIDI HPC (campus cluster)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4709160" y="914400"/>
            <a:ext cx="4069080" cy="1783080"/>
          </a:xfrm>
          <a:prstGeom prst="rect">
            <a:avLst/>
          </a:prstGeom>
          <a:solidFill>
            <a:srgbClr val="162032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4709160" y="914400"/>
            <a:ext cx="4069080" cy="38404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2312" y="96926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0"/>
          <p:cNvSpPr/>
          <p:nvPr/>
        </p:nvSpPr>
        <p:spPr>
          <a:xfrm>
            <a:off x="5148072" y="93268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7772400" y="969264"/>
            <a:ext cx="914400" cy="2926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7772400" y="96926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4846320" y="137160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PyTorch 2.x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4846320" y="175564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Ultralytics YOLOv8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4846320" y="213969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OpenCV, Matplotlib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365760" y="2880360"/>
            <a:ext cx="4069080" cy="1783080"/>
          </a:xfrm>
          <a:prstGeom prst="rect">
            <a:avLst/>
          </a:prstGeom>
          <a:solidFill>
            <a:srgbClr val="162032"/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365760" y="2880360"/>
            <a:ext cx="4069080" cy="38404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3" name="Google Shape;33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912" y="29352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0"/>
          <p:cNvSpPr/>
          <p:nvPr/>
        </p:nvSpPr>
        <p:spPr>
          <a:xfrm>
            <a:off x="804672" y="289864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3429000" y="2935224"/>
            <a:ext cx="914400" cy="2926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3429000" y="293522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$0–$5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502920" y="33375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PKLot (free, public)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502920" y="37216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Roboflow Universe (free)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02920" y="410565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Optional: Roboflow annotate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709160" y="2880360"/>
            <a:ext cx="4069080" cy="1783080"/>
          </a:xfrm>
          <a:prstGeom prst="rect">
            <a:avLst/>
          </a:prstGeom>
          <a:solidFill>
            <a:srgbClr val="162032"/>
          </a:solidFill>
          <a:ln cap="flat" cmpd="sng" w="1905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4709160" y="2880360"/>
            <a:ext cx="4069080" cy="384048"/>
          </a:xfrm>
          <a:prstGeom prst="rect">
            <a:avLst/>
          </a:prstGeom>
          <a:solidFill>
            <a:srgbClr val="1B4F72"/>
          </a:solidFill>
          <a:ln cap="flat" cmpd="sng" w="12700">
            <a:solidFill>
              <a:srgbClr val="1B4F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2" name="Google Shape;34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82312" y="29352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0"/>
          <p:cNvSpPr/>
          <p:nvPr/>
        </p:nvSpPr>
        <p:spPr>
          <a:xfrm>
            <a:off x="5148072" y="289864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7772400" y="2935224"/>
            <a:ext cx="914400" cy="292608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7772400" y="2935224"/>
            <a:ext cx="914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846320" y="3337560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GitHub (free)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846320" y="3721608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Jupyter Notebooks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846320" y="4105656"/>
            <a:ext cx="3749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2EAF4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2EAF4"/>
                </a:solidFill>
                <a:latin typeface="Calibri"/>
                <a:ea typeface="Calibri"/>
                <a:cs typeface="Calibri"/>
                <a:sym typeface="Calibri"/>
              </a:rPr>
              <a:t>LabelImg (if labeling needed)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365760" y="4754880"/>
            <a:ext cx="8412480" cy="36576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365760" y="4754880"/>
            <a:ext cx="8412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💰  Estimated Total Cost: $0 – $5   |   All tools and datasets are free or open-source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2026-03-07T01:51:57Z</dcterms:created>
  <dc:creator>PptxGenJS</dc:creator>
</cp:coreProperties>
</file>